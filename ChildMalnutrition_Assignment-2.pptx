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bubble3D val="0"/>
            <c:spPr>
              <a:solidFill>
                <a:srgbClr val="27AE60"/>
              </a:solidFill>
              <a:effectLst/>
            </c:spPr>
          </c:dPt>
          <c:dPt>
            <c:idx val="3"/>
            <c:bubble3D val="0"/>
            <c:spPr>
              <a:solidFill>
                <a:srgbClr val="16A08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Crisis Zone</c:v>
                </c:pt>
                <c:pt idx="1">
                  <c:v>Improving</c:v>
                </c:pt>
                <c:pt idx="2">
                  <c:v>Stable</c:v>
                </c:pt>
                <c:pt idx="3">
                  <c:v>Overweight-Risk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</c:v>
                </c:pt>
                <c:pt idx="1">
                  <c:v>48</c:v>
                </c:pt>
                <c:pt idx="2">
                  <c:v>61</c:v>
                </c:pt>
                <c:pt idx="3">
                  <c:v>20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EF9E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Countries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08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Crisis
Zone</c:v>
                  </c:pt>
                  <c:pt idx="1">
                    <c:v>Improving</c:v>
                  </c:pt>
                  <c:pt idx="2">
                    <c:v>Stable</c:v>
                  </c:pt>
                  <c:pt idx="3">
                    <c:v>Overweight
Risk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48</c:v>
                </c:pt>
                <c:pt idx="2">
                  <c:v>61</c:v>
                </c:pt>
                <c:pt idx="3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DEDE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548640"/>
            <a:ext cx="2560320" cy="2560320"/>
          </a:xfrm>
          <a:prstGeom prst="ellipse">
            <a:avLst/>
          </a:prstGeom>
          <a:solidFill>
            <a:srgbClr val="C0392B">
              <a:alpha val="10000"/>
            </a:srgbClr>
          </a:solidFill>
          <a:ln w="12700">
            <a:solidFill>
              <a:srgbClr val="C0392B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566160"/>
            <a:ext cx="1828800" cy="1828800"/>
          </a:xfrm>
          <a:prstGeom prst="ellipse">
            <a:avLst/>
          </a:prstGeom>
          <a:solidFill>
            <a:srgbClr val="E67E22">
              <a:alpha val="14000"/>
            </a:srgbClr>
          </a:solidFill>
          <a:ln w="12700">
            <a:solidFill>
              <a:srgbClr val="E67E22">
                <a:alpha val="1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4389120"/>
            <a:ext cx="914400" cy="914400"/>
          </a:xfrm>
          <a:prstGeom prst="ellipse">
            <a:avLst/>
          </a:prstGeom>
          <a:solidFill>
            <a:srgbClr val="27AE60">
              <a:alpha val="18000"/>
            </a:srgbClr>
          </a:solidFill>
          <a:ln w="12700">
            <a:solidFill>
              <a:srgbClr val="27AE60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01168" cy="10287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028700"/>
            <a:ext cx="201168" cy="10287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57400"/>
            <a:ext cx="201168" cy="10287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086100"/>
            <a:ext cx="201168" cy="10287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114800"/>
            <a:ext cx="201168" cy="10287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201168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011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56692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2E"/>
                </a:solidFill>
              </a:rPr>
              <a:t>Child Malnutrition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47472" y="115214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Risk in Developing Countries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</a:rPr>
              <a:t>Which children are most at risk — and what does the data tell us?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7472" y="2176272"/>
            <a:ext cx="3840480" cy="347472"/>
          </a:xfrm>
          <a:prstGeom prst="roundRect">
            <a:avLst>
              <a:gd name="adj" fmla="val 50000"/>
            </a:avLst>
          </a:prstGeom>
          <a:solidFill>
            <a:srgbClr val="FEF9EE"/>
          </a:solidFill>
          <a:ln w="12700">
            <a:solidFill>
              <a:srgbClr val="F0C2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176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7E22"/>
                </a:solidFill>
              </a:rPr>
              <a:t>📊  UNICEF JME 2025 Database  |  154 Countries  |  Official UN Data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2697480"/>
            <a:ext cx="1444752" cy="1444752"/>
          </a:xfrm>
          <a:prstGeom prst="ellipse">
            <a:avLst/>
          </a:prstGeom>
          <a:solidFill>
            <a:srgbClr val="C0392B">
              <a:alpha val="10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" y="2816352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154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7472" y="332841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Countries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11680" y="2697480"/>
            <a:ext cx="1444752" cy="1444752"/>
          </a:xfrm>
          <a:prstGeom prst="ellipse">
            <a:avLst/>
          </a:prstGeom>
          <a:solidFill>
            <a:srgbClr val="E67E22">
              <a:alpha val="10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011680" y="2816352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011680" y="332841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Indicators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75888" y="2697480"/>
            <a:ext cx="1444752" cy="1444752"/>
          </a:xfrm>
          <a:prstGeom prst="ellipse">
            <a:avLst/>
          </a:prstGeom>
          <a:solidFill>
            <a:srgbClr val="16A085">
              <a:alpha val="10000"/>
            </a:srgbClr>
          </a:solidFill>
          <a:ln w="12700">
            <a:solidFill>
              <a:srgbClr val="16A085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75888" y="2816352"/>
            <a:ext cx="1444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085"/>
                </a:solidFill>
              </a:rPr>
              <a:t>25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75888" y="3328416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Crisis Zone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137160"/>
            <a:ext cx="3401568" cy="4828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15000" y="2743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2743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0840" y="2743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2743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6680" y="2743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2743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15000" y="777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777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20840" y="777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3760" y="777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26680" y="777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0" y="777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15000" y="12801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12801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20840" y="12801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23760" y="12801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26680" y="12801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9600" y="12801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15000" y="17830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17830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20840" y="17830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223760" y="17830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26680" y="17830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29600" y="178308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15000" y="22860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17920" y="22860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20840" y="22860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223760" y="22860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26680" y="22860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29600" y="22860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474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50" kern="0" dirty="0">
                <a:solidFill>
                  <a:srgbClr val="E67E22"/>
                </a:solidFill>
              </a:rPr>
              <a:t>PROBLEM STATEMENT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989320" y="713232"/>
            <a:ext cx="2743200" cy="274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0" y="841248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Millions of children in developing countries are stunted, wasted, or overweight. Many governments do not know which regions need help most — or when the problem is getting worse.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669280" y="1847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0392B"/>
                </a:solidFill>
              </a:rPr>
              <a:t>WHY IT MATTERS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669280" y="217627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🌍 45 million children suffer from wasting globally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669280" y="2688336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📉 Stunted growth causes lifelong damage to health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669280" y="320040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🏥 Malnutrition is linked to half of all child deaths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669280" y="371246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🎯 South Asia and West Africa are the hardest hit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715000" y="4315968"/>
            <a:ext cx="3017520" cy="475488"/>
          </a:xfrm>
          <a:prstGeom prst="roundRect">
            <a:avLst>
              <a:gd name="adj" fmla="val 1923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15000" y="431596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🔗  data.unicef.org  |  UNICEF JME 2025 Dataset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E67E22">
              <a:alpha val="12000"/>
            </a:srgbClr>
          </a:solidFill>
          <a:ln w="12700">
            <a:solidFill>
              <a:srgbClr val="E67E22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840480"/>
            <a:ext cx="1645920" cy="1645920"/>
          </a:xfrm>
          <a:prstGeom prst="ellipse">
            <a:avLst/>
          </a:prstGeom>
          <a:solidFill>
            <a:srgbClr val="16A085">
              <a:alpha val="15000"/>
            </a:srgbClr>
          </a:solidFill>
          <a:ln w="12700">
            <a:solidFill>
              <a:srgbClr val="16A08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28600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286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6459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2E"/>
                </a:solidFill>
              </a:rPr>
              <a:t>Objectives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43000" y="621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Five goals that guided our analysis of child malnutrition across 154 countries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024128"/>
            <a:ext cx="2834640" cy="1627632"/>
          </a:xfrm>
          <a:prstGeom prst="rect">
            <a:avLst/>
          </a:prstGeom>
          <a:solidFill>
            <a:srgbClr val="FDEDEC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024128"/>
            <a:ext cx="283464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188720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16824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Group Countries by Malnutrition Type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" y="20299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Use K-Means clustering on 5 UNICEF indicators — stunting, wasting, overweight, and co-occurrence — to find 4 natural country groups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18688" y="1024128"/>
            <a:ext cx="2834640" cy="1627632"/>
          </a:xfrm>
          <a:prstGeom prst="rect">
            <a:avLst/>
          </a:prstGeom>
          <a:solidFill>
            <a:srgbClr val="FEF9EE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1024128"/>
            <a:ext cx="283464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28416" y="1188720"/>
            <a:ext cx="402336" cy="402336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0128" y="16824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Identify the Crisis Zone Countries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10128" y="20299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Find which 25 countries have the worst malnutrition profiles — highest stunting and wasting — so aid can be directed where it is needed most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81344" y="1024128"/>
            <a:ext cx="2834640" cy="1627632"/>
          </a:xfrm>
          <a:prstGeom prst="rect">
            <a:avLst/>
          </a:prstGeom>
          <a:solidFill>
            <a:srgbClr val="E8F8F5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1024128"/>
            <a:ext cx="283464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91072" y="1188720"/>
            <a:ext cx="402336" cy="402336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72784" y="16824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Understand What Drives Risk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72784" y="202996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Use Random Forest to find which factors — region, year, survey type — best predict whether a country is at high malnutrition risk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37360" y="2834640"/>
            <a:ext cx="2834640" cy="1627632"/>
          </a:xfrm>
          <a:prstGeom prst="rect">
            <a:avLst/>
          </a:prstGeom>
          <a:solidFill>
            <a:srgbClr val="E8F8F5"/>
          </a:solidFill>
          <a:ln w="25400">
            <a:solidFill>
              <a:srgbClr val="16A08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737360" y="2834640"/>
            <a:ext cx="2834640" cy="6400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47088" y="2999232"/>
            <a:ext cx="402336" cy="402336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47088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28800" y="34930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Predict High Risk Countries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828800" y="38404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Train a model on real UNICEF survey data (80/20 split) to correctly flag countries at high risk before conditions worsen further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0016" y="2834640"/>
            <a:ext cx="2834640" cy="1627632"/>
          </a:xfrm>
          <a:prstGeom prst="rect">
            <a:avLst/>
          </a:prstGeom>
          <a:solidFill>
            <a:srgbClr val="EBF5FB"/>
          </a:solidFill>
          <a:ln w="25400">
            <a:solidFill>
              <a:srgbClr val="2980B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0016" y="2834640"/>
            <a:ext cx="2834640" cy="6400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9744" y="2999232"/>
            <a:ext cx="402336" cy="40233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9744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91456" y="34930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Turn Findings into Simple Recommendations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91456" y="38404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Translate cluster profiles and risk predictions into clear actions that governments and aid organisations can act on immediately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7E22"/>
                </a:solidFill>
              </a:rPr>
              <a:t>UNICEF JME 2025  |  154 Countries  |  K-Means Clustering + Random Forest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4114800"/>
            <a:ext cx="1828800" cy="1828800"/>
          </a:xfrm>
          <a:prstGeom prst="ellipse">
            <a:avLst/>
          </a:prstGeom>
          <a:solidFill>
            <a:srgbClr val="27AE60">
              <a:alpha val="15000"/>
            </a:srgbClr>
          </a:solidFill>
          <a:ln w="12700">
            <a:solidFill>
              <a:srgbClr val="27AE6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" y="-365760"/>
            <a:ext cx="1371600" cy="1371600"/>
          </a:xfrm>
          <a:prstGeom prst="ellipse">
            <a:avLst/>
          </a:prstGeom>
          <a:solidFill>
            <a:srgbClr val="16A085">
              <a:alpha val="15000"/>
            </a:srgbClr>
          </a:solidFill>
          <a:ln w="12700">
            <a:solidFill>
              <a:srgbClr val="16A08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28600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286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Approach &amp; Methodology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74320" y="713232"/>
            <a:ext cx="1572768" cy="960120"/>
          </a:xfrm>
          <a:prstGeom prst="rect">
            <a:avLst/>
          </a:prstGeom>
          <a:solidFill>
            <a:srgbClr val="C0392B">
              <a:alpha val="12000"/>
            </a:srgbClr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7315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9692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UNICEF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Data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26187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154 countries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5 indicators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47088" y="1143000"/>
            <a:ext cx="1828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93392" y="1069848"/>
            <a:ext cx="36576" cy="210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9968" y="713232"/>
            <a:ext cx="1572768" cy="960120"/>
          </a:xfrm>
          <a:prstGeom prst="rect">
            <a:avLst/>
          </a:prstGeom>
          <a:solidFill>
            <a:srgbClr val="2980B9">
              <a:alpha val="12000"/>
            </a:srgbClr>
          </a:solidFill>
          <a:ln w="19050">
            <a:solidFill>
              <a:srgbClr val="2980B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29968" y="7315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29968" y="9692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Clean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Scale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29968" y="126187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Mean impute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StandardScaler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02736" y="1143000"/>
            <a:ext cx="182880" cy="6400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1069848"/>
            <a:ext cx="36576" cy="21031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85616" y="713232"/>
            <a:ext cx="1572768" cy="960120"/>
          </a:xfrm>
          <a:prstGeom prst="rect">
            <a:avLst/>
          </a:prstGeom>
          <a:solidFill>
            <a:srgbClr val="E67E22">
              <a:alpha val="12000"/>
            </a:srgbClr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85616" y="7315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85616" y="9692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K-Means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K=4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85616" y="126187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Elbow method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Clusters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358384" y="1143000"/>
            <a:ext cx="182880" cy="640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04688" y="1069848"/>
            <a:ext cx="36576" cy="2103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41264" y="713232"/>
            <a:ext cx="1572768" cy="960120"/>
          </a:xfrm>
          <a:prstGeom prst="rect">
            <a:avLst/>
          </a:prstGeom>
          <a:solidFill>
            <a:srgbClr val="27AE60">
              <a:alpha val="12000"/>
            </a:srgbClr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41264" y="7315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🌲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41264" y="9692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Random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Forest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41264" y="126187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80/20 split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Predict risk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114032" y="1143000"/>
            <a:ext cx="18288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60336" y="1069848"/>
            <a:ext cx="36576" cy="21031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96912" y="713232"/>
            <a:ext cx="1572768" cy="960120"/>
          </a:xfrm>
          <a:prstGeom prst="rect">
            <a:avLst/>
          </a:prstGeom>
          <a:solidFill>
            <a:srgbClr val="16A085">
              <a:alpha val="12000"/>
            </a:srgbClr>
          </a:solidFill>
          <a:ln w="19050">
            <a:solidFill>
              <a:srgbClr val="16A08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96912" y="7315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✨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96912" y="9692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Risk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Insights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296912" y="1261872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Top drivers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High-risk list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1920240"/>
            <a:ext cx="2606040" cy="2834640"/>
          </a:xfrm>
          <a:prstGeom prst="rect">
            <a:avLst/>
          </a:prstGeom>
          <a:solidFill>
            <a:srgbClr val="FEF9EE"/>
          </a:solidFill>
          <a:ln w="12700">
            <a:solidFill>
              <a:srgbClr val="F0C27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20040" y="199339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Countries by Risk Level</a:t>
            </a:r>
            <a:endParaRPr lang="en-US" sz="1000" dirty="0"/>
          </a:p>
        </p:txBody>
      </p:sp>
      <p:graphicFrame>
        <p:nvGraphicFramePr>
          <p:cNvPr id="38" name="Chart 0" descr=""/>
          <p:cNvGraphicFramePr/>
          <p:nvPr/>
        </p:nvGraphicFramePr>
        <p:xfrm>
          <a:off x="320040" y="2286000"/>
          <a:ext cx="25146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9" name="Shape 36"/>
          <p:cNvSpPr/>
          <p:nvPr/>
        </p:nvSpPr>
        <p:spPr>
          <a:xfrm>
            <a:off x="3063240" y="1920240"/>
            <a:ext cx="2743200" cy="2834640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3108960" y="19933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Cluster Sizes (No. of Countries)</a:t>
            </a:r>
            <a:endParaRPr lang="en-US" sz="1000" dirty="0"/>
          </a:p>
        </p:txBody>
      </p:sp>
      <p:graphicFrame>
        <p:nvGraphicFramePr>
          <p:cNvPr id="41" name="Chart 1" descr=""/>
          <p:cNvGraphicFramePr/>
          <p:nvPr/>
        </p:nvGraphicFramePr>
        <p:xfrm>
          <a:off x="3090672" y="2267712"/>
          <a:ext cx="267004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2" name="Shape 38"/>
          <p:cNvSpPr/>
          <p:nvPr/>
        </p:nvSpPr>
        <p:spPr>
          <a:xfrm>
            <a:off x="5943600" y="1920240"/>
            <a:ext cx="3017520" cy="2834640"/>
          </a:xfrm>
          <a:prstGeom prst="rect">
            <a:avLst/>
          </a:prstGeom>
          <a:solidFill>
            <a:srgbClr val="E8F8F5"/>
          </a:solidFill>
          <a:ln w="12700">
            <a:solidFill>
              <a:srgbClr val="A2D9C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Text 39"/>
          <p:cNvSpPr/>
          <p:nvPr/>
        </p:nvSpPr>
        <p:spPr>
          <a:xfrm>
            <a:off x="5989320" y="19933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Cluster Profiles (K=4)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6053328" y="2304288"/>
            <a:ext cx="2788920" cy="502920"/>
          </a:xfrm>
          <a:prstGeom prst="rect">
            <a:avLst/>
          </a:prstGeom>
          <a:solidFill>
            <a:srgbClr val="FDEDEC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6053328" y="2304288"/>
            <a:ext cx="54864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181344" y="23317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Crisis Zone</a:t>
            </a:r>
            <a:endParaRPr lang="en-US" sz="950" dirty="0"/>
          </a:p>
        </p:txBody>
      </p:sp>
      <p:sp>
        <p:nvSpPr>
          <p:cNvPr id="47" name="Text 43"/>
          <p:cNvSpPr/>
          <p:nvPr/>
        </p:nvSpPr>
        <p:spPr>
          <a:xfrm>
            <a:off x="6181344" y="25328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25 countries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7452360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High stunting &amp; wasting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South Asia + West Africa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Needs urgent action</a:t>
            </a:r>
            <a:endParaRPr lang="en-US" sz="700" dirty="0"/>
          </a:p>
        </p:txBody>
      </p:sp>
      <p:sp>
        <p:nvSpPr>
          <p:cNvPr id="49" name="Shape 45"/>
          <p:cNvSpPr/>
          <p:nvPr/>
        </p:nvSpPr>
        <p:spPr>
          <a:xfrm>
            <a:off x="6053328" y="2871216"/>
            <a:ext cx="2788920" cy="502920"/>
          </a:xfrm>
          <a:prstGeom prst="rect">
            <a:avLst/>
          </a:prstGeom>
          <a:solidFill>
            <a:srgbClr val="FEF9EE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6053328" y="2871216"/>
            <a:ext cx="54864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6181344" y="2898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Improving</a:t>
            </a:r>
            <a:endParaRPr lang="en-US" sz="950" dirty="0"/>
          </a:p>
        </p:txBody>
      </p:sp>
      <p:sp>
        <p:nvSpPr>
          <p:cNvPr id="52" name="Text 48"/>
          <p:cNvSpPr/>
          <p:nvPr/>
        </p:nvSpPr>
        <p:spPr>
          <a:xfrm>
            <a:off x="6181344" y="30998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</a:rPr>
              <a:t>48 countries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7452360" y="28986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Moderate malnutrition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Getting slowly better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Needs ongoing support</a:t>
            </a:r>
            <a:endParaRPr lang="en-US" sz="700" dirty="0"/>
          </a:p>
        </p:txBody>
      </p:sp>
      <p:sp>
        <p:nvSpPr>
          <p:cNvPr id="54" name="Shape 50"/>
          <p:cNvSpPr/>
          <p:nvPr/>
        </p:nvSpPr>
        <p:spPr>
          <a:xfrm>
            <a:off x="6053328" y="3438144"/>
            <a:ext cx="2788920" cy="502920"/>
          </a:xfrm>
          <a:prstGeom prst="rect">
            <a:avLst/>
          </a:prstGeom>
          <a:solidFill>
            <a:srgbClr val="E8F8F5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6053328" y="3438144"/>
            <a:ext cx="54864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181344" y="346557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Stable</a:t>
            </a:r>
            <a:endParaRPr lang="en-US" sz="950" dirty="0"/>
          </a:p>
        </p:txBody>
      </p:sp>
      <p:sp>
        <p:nvSpPr>
          <p:cNvPr id="57" name="Text 53"/>
          <p:cNvSpPr/>
          <p:nvPr/>
        </p:nvSpPr>
        <p:spPr>
          <a:xfrm>
            <a:off x="6181344" y="36667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61 countries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7452360" y="346557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Low malnutrition overall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Better health systems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Maintain current progress</a:t>
            </a:r>
            <a:endParaRPr lang="en-US" sz="700" dirty="0"/>
          </a:p>
        </p:txBody>
      </p:sp>
      <p:sp>
        <p:nvSpPr>
          <p:cNvPr id="59" name="Shape 55"/>
          <p:cNvSpPr/>
          <p:nvPr/>
        </p:nvSpPr>
        <p:spPr>
          <a:xfrm>
            <a:off x="6053328" y="4005072"/>
            <a:ext cx="2788920" cy="502920"/>
          </a:xfrm>
          <a:prstGeom prst="rect">
            <a:avLst/>
          </a:prstGeom>
          <a:solidFill>
            <a:srgbClr val="EBF5FB"/>
          </a:solidFill>
          <a:ln w="19050">
            <a:solidFill>
              <a:srgbClr val="16A085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6053328" y="4005072"/>
            <a:ext cx="54864" cy="5029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6181344" y="4032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Overweight-Risk</a:t>
            </a:r>
            <a:endParaRPr lang="en-US" sz="950" dirty="0"/>
          </a:p>
        </p:txBody>
      </p:sp>
      <p:sp>
        <p:nvSpPr>
          <p:cNvPr id="62" name="Text 58"/>
          <p:cNvSpPr/>
          <p:nvPr/>
        </p:nvSpPr>
        <p:spPr>
          <a:xfrm>
            <a:off x="6181344" y="42336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085"/>
                </a:solidFill>
              </a:rPr>
              <a:t>20 countries</a:t>
            </a:r>
            <a:endParaRPr lang="en-US" sz="900" dirty="0"/>
          </a:p>
        </p:txBody>
      </p:sp>
      <p:sp>
        <p:nvSpPr>
          <p:cNvPr id="63" name="Text 59"/>
          <p:cNvSpPr/>
          <p:nvPr/>
        </p:nvSpPr>
        <p:spPr>
          <a:xfrm>
            <a:off x="7452360" y="403250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Low wasting, high overweight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Nutrition transition phase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74151"/>
                </a:solidFill>
              </a:rPr>
              <a:t>Different challenge</a:t>
            </a:r>
            <a:endParaRPr lang="en-US" sz="700" dirty="0"/>
          </a:p>
        </p:txBody>
      </p:sp>
      <p:sp>
        <p:nvSpPr>
          <p:cNvPr id="64" name="Shape 60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FEF9EE"/>
          </a:solidFill>
          <a:ln w="12700">
            <a:solidFill>
              <a:srgbClr val="FEF9EE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7E22"/>
                </a:solidFill>
              </a:rPr>
              <a:t>Top Risk Predictors: Survey Year (48.5%)  |  South Asia Region (25.2%)  |  West &amp; Central Africa (9.8%)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548640"/>
            <a:ext cx="2011680" cy="2011680"/>
          </a:xfrm>
          <a:prstGeom prst="ellipse">
            <a:avLst/>
          </a:prstGeom>
          <a:solidFill>
            <a:srgbClr val="C0392B">
              <a:alpha val="13000"/>
            </a:srgbClr>
          </a:solidFill>
          <a:ln w="12700">
            <a:solidFill>
              <a:srgbClr val="C0392B">
                <a:alpha val="1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023360"/>
            <a:ext cx="1463040" cy="1463040"/>
          </a:xfrm>
          <a:prstGeom prst="ellipse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0" y="4663440"/>
            <a:ext cx="914400" cy="914400"/>
          </a:xfrm>
          <a:prstGeom prst="ellipse">
            <a:avLst/>
          </a:prstGeom>
          <a:solidFill>
            <a:srgbClr val="27AE60">
              <a:alpha val="18000"/>
            </a:srgbClr>
          </a:solidFill>
          <a:ln w="12700">
            <a:solidFill>
              <a:srgbClr val="27AE60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28600"/>
            <a:ext cx="658368" cy="292608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286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6459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Impact &amp; Social Importance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56032" y="713232"/>
            <a:ext cx="4114800" cy="4041648"/>
          </a:xfrm>
          <a:prstGeom prst="rect">
            <a:avLst/>
          </a:prstGeom>
          <a:solidFill>
            <a:srgbClr val="FEF9EE"/>
          </a:solidFill>
          <a:ln w="12700">
            <a:solidFill>
              <a:srgbClr val="F0C27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" y="804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💰  Economic Advantages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170432"/>
            <a:ext cx="3913632" cy="768096"/>
          </a:xfrm>
          <a:prstGeom prst="rect">
            <a:avLst/>
          </a:prstGeom>
          <a:solidFill>
            <a:srgbClr val="FDEDEC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1170432"/>
            <a:ext cx="54864" cy="7680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9536" y="12252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Stops Wasting Aid Money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59536" y="144475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Without this analysis money is spread equally across all 154 countries. Now we know the exact 25 that need it most — so every dollar goes where it saves the most lives.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" y="2029968"/>
            <a:ext cx="3913632" cy="768096"/>
          </a:xfrm>
          <a:prstGeom prst="rect">
            <a:avLst/>
          </a:prstGeom>
          <a:solidFill>
            <a:srgbClr val="FEF9EE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2029968"/>
            <a:ext cx="54864" cy="7680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9536" y="208483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Prevention is Cheaper Than Treatment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59536" y="230428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Treating a severely malnourished child in hospital costs far more than stopping it early. The model gives an early warning so help arrives before the crisis becomes expensive.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7472" y="2889504"/>
            <a:ext cx="3913632" cy="768096"/>
          </a:xfrm>
          <a:prstGeom prst="rect">
            <a:avLst/>
          </a:prstGeom>
          <a:solidFill>
            <a:srgbClr val="E8F8F5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2889504"/>
            <a:ext cx="54864" cy="7680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9536" y="29443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A Healthy Child Earns More as an Adult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59536" y="316382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Stunted children grow up to earn less, miss more work, and need more healthcare. Solving malnutrition early is an investment that pays back for 50 years.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7472" y="3749040"/>
            <a:ext cx="3913632" cy="768096"/>
          </a:xfrm>
          <a:prstGeom prst="rect">
            <a:avLst/>
          </a:prstGeom>
          <a:solidFill>
            <a:srgbClr val="EBF5FB"/>
          </a:solidFill>
          <a:ln w="19050">
            <a:solidFill>
              <a:srgbClr val="16A08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749040"/>
            <a:ext cx="54864" cy="768096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🌱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9536" y="380390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Reduces Long Term Dependency on Aid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59536" y="40233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Countries that solve malnutrition become more self-sufficient over time. They need less international support — freeing up global funds for other crises elsewhere.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53712" y="713232"/>
            <a:ext cx="4389120" cy="4041648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45152" y="8046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❤️  Social Impact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1152144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1207008"/>
            <a:ext cx="347472" cy="347472"/>
          </a:xfrm>
          <a:prstGeom prst="ellipse">
            <a:avLst/>
          </a:prstGeom>
          <a:solidFill>
            <a:srgbClr val="C0392B">
              <a:alpha val="18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👶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119786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Children Live Longer, Healthier Lives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84064" y="14081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When malnutrition is caught early and treated, children grow up stronger. They do better in school and live healthier adult lives.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17720" y="1837944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1892808"/>
            <a:ext cx="347472" cy="347472"/>
          </a:xfrm>
          <a:prstGeom prst="ellipse">
            <a:avLst/>
          </a:prstGeom>
          <a:solidFill>
            <a:srgbClr val="E67E22">
              <a:alpha val="18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1892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👩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84064" y="188366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Mothers and Families Are Protected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084064" y="20939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Malnourished mothers have malnourished babies. Helping one person in a family can protect the whole next generation.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617720" y="2523744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2578608"/>
            <a:ext cx="347472" cy="347472"/>
          </a:xfrm>
          <a:prstGeom prst="ellipse">
            <a:avLst/>
          </a:prstGeom>
          <a:solidFill>
            <a:srgbClr val="27AE60">
              <a:alpha val="18000"/>
            </a:srgbClr>
          </a:solidFill>
          <a:ln w="12700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🏫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84064" y="256946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Children Can Go to School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084064" y="27797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A hungry or sick child cannot learn. Reducing malnutrition means more children can attend school, finish their education, and escape poverty.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17720" y="3209544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3264408"/>
            <a:ext cx="347472" cy="347472"/>
          </a:xfrm>
          <a:prstGeom prst="ellipse">
            <a:avLst/>
          </a:prstGeom>
          <a:solidFill>
            <a:srgbClr val="16A085">
              <a:alpha val="18000"/>
            </a:srgbClr>
          </a:solidFill>
          <a:ln w="12700">
            <a:solidFill>
              <a:srgbClr val="16A085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🌾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084064" y="325526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Poorer Countries Can Grow Stronger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084064" y="34655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Malnutrition holds entire countries back. A healthy population works more, earns more, and helps the whole nation develop faster.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17720" y="3895344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63440" y="3950208"/>
            <a:ext cx="347472" cy="347472"/>
          </a:xfrm>
          <a:prstGeom prst="ellipse">
            <a:avLst/>
          </a:prstGeom>
          <a:solidFill>
            <a:srgbClr val="2980B9">
              <a:alpha val="18000"/>
            </a:srgbClr>
          </a:solidFill>
          <a:ln w="12700">
            <a:solidFill>
              <a:srgbClr val="2980B9">
                <a:alpha val="4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🤝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084064" y="394106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</a:rPr>
              <a:t>Supports the UN's Global Goals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084064" y="415137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This work directly supports UN SDG Goal 2 — Zero Hunger. Every child saved from malnutrition is a step closer to a fairer world for everyone.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2880" y="4873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Key Insight:  The 25 Crisis Zone countries — mostly in South Asia and West Africa — need the most urgent help. Getting aid there first saves the most lives.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Child Malnutrition Risk in Developing Countries</dc:title>
  <dc:subject>PptxGenJS Presentation</dc:subject>
  <dc:creator>PptxGenJS</dc:creator>
  <cp:lastModifiedBy>PptxGenJS</cp:lastModifiedBy>
  <cp:revision>1</cp:revision>
  <dcterms:created xsi:type="dcterms:W3CDTF">2026-03-07T08:15:21Z</dcterms:created>
  <dcterms:modified xsi:type="dcterms:W3CDTF">2026-03-07T08:15:21Z</dcterms:modified>
</cp:coreProperties>
</file>